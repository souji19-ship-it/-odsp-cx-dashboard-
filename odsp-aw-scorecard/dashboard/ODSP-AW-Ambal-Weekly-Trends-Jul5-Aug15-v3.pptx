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4263D"/>
          </a:solidFill>
          <a:ln w="5715"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819" b="0">
                <a:solidFill>
                  <a:srgbClr val="25354A"/>
                </a:solidFill>
                <a:latin typeface="Aptos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73152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Display"/>
              </a:rPr>
              <a:t>ODSP in Agentic Work — Retained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9144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Aptos"/>
              </a:rPr>
              <a:t>Jul 5–Aug 15,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548640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768096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768096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7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5464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7296" y="768096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768096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768096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078992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148839"/>
            <a:ext cx="384048" cy="713232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862072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078992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7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88,488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84,368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13632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86,811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5464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92,373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1078992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107,182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9128" y="107899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640" b="1">
                <a:solidFill>
                  <a:srgbClr val="25354A"/>
                </a:solidFill>
                <a:latin typeface="Aptos"/>
              </a:rPr>
              <a:t>107,159
(221,960 · 48.3%)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≈ 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1078992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27.0%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43560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9967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11,171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8,382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3632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8,579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9,346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7296" y="143560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10,867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39128" y="143560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640" b="1">
                <a:solidFill>
                  <a:srgbClr val="25354A"/>
                </a:solidFill>
                <a:latin typeface="Aptos"/>
              </a:rPr>
              <a:t>10,997
(17,356 · 63.4%)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143560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31.2%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179222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29967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13632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5464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97296" y="179222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179222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179222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14883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9967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216,402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207,406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13632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239,748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55464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227,624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97296" y="214883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263,945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39128" y="214883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640" b="1">
                <a:solidFill>
                  <a:srgbClr val="25354A"/>
                </a:solidFill>
                <a:latin typeface="Aptos"/>
              </a:rPr>
              <a:t>285,878
(1,217,699 · 23.5%)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8.3%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214883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37.8%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250545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29967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2,124,966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1,876,324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13632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2,113,159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55464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2,332,460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97296" y="250545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2,927,589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39128" y="250545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640" b="1">
                <a:solidFill>
                  <a:srgbClr val="25354A"/>
                </a:solidFill>
                <a:latin typeface="Aptos"/>
              </a:rPr>
              <a:t>3,090,304
(22,404,476 · 13.8%)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60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5.6%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94192" y="250545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64.7%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286207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29967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71800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13632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95.7%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55464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97296" y="286207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96.5%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9128" y="286207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95.8%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0.7pp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94192" y="286207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6B778A"/>
                </a:solidFill>
                <a:latin typeface="Aptos"/>
              </a:rPr>
              <a:t>≈ 0.0pp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6032" y="3383279"/>
            <a:ext cx="8851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63269"/>
                </a:solidFill>
                <a:latin typeface="Aptos Display"/>
              </a:rPr>
              <a:t>Copilot Studio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3602735"/>
            <a:ext cx="38404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Pillar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3602735"/>
            <a:ext cx="1389888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Metric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29967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5-11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71800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12-18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13632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19-25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55464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Jul 26-Aug 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97296" y="3602735"/>
            <a:ext cx="9418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2-8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9128" y="3602735"/>
            <a:ext cx="941832" cy="31089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Aug 9-15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80960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WoW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94192" y="3602735"/>
            <a:ext cx="713232" cy="310896"/>
          </a:xfrm>
          <a:prstGeom prst="rect">
            <a:avLst/>
          </a:prstGeom>
          <a:solidFill>
            <a:srgbClr val="EEF2F7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50" b="1">
                <a:solidFill>
                  <a:srgbClr val="25354A"/>
                </a:solidFill>
                <a:latin typeface="Aptos"/>
              </a:rPr>
              <a:t>MoM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" y="3913631"/>
            <a:ext cx="384048" cy="1069848"/>
          </a:xfrm>
          <a:prstGeom prst="rect">
            <a:avLst/>
          </a:prstGeom>
          <a:solidFill>
            <a:srgbClr val="195AA6"/>
          </a:solidFill>
          <a:ln w="5715">
            <a:solidFill>
              <a:srgbClr val="19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Reach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" y="4983479"/>
            <a:ext cx="384048" cy="1069848"/>
          </a:xfrm>
          <a:prstGeom prst="rect">
            <a:avLst/>
          </a:prstGeom>
          <a:solidFill>
            <a:srgbClr val="C87800"/>
          </a:solidFill>
          <a:ln w="5715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Adoption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6032" y="6053327"/>
            <a:ext cx="384048" cy="356616"/>
          </a:xfrm>
          <a:prstGeom prst="rect">
            <a:avLst/>
          </a:prstGeom>
          <a:solidFill>
            <a:srgbClr val="087A55"/>
          </a:solidFill>
          <a:ln w="5715">
            <a:solidFill>
              <a:srgbClr val="08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" y="3913631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Users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29967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12,312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71800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13,115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13632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15,585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55464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16,927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97296" y="3913631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21,260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39128" y="3913631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24,997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17.6%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94192" y="3913631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90.6%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" y="4270247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Tenants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29967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4,003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71800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4,282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13632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4,632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55464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4,888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97296" y="4270247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5,965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739128" y="427024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7,068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80960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18.5%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94192" y="4270247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65.1%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4626864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Active Agents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29967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11,267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971800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13,713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13632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14,396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55464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15,383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97296" y="4626864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17,200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39128" y="4626864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20,061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80960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16.6%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94192" y="4626864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46.3%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" y="4983479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Tasks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29967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107,920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71800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135,821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13632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145,148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55464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217,917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797296" y="4983479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155,819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39128" y="4983479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203,294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80960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30.5%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94192" y="4983479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49.7%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" y="5340096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Calls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29967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169,040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71800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202,634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13632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116,929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55464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145,954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97296" y="5340096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184,031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39128" y="5340096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209,659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80960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13.9%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94192" y="5340096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3.5%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" y="5696712"/>
            <a:ext cx="1389888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Knowledge Search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29967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209,075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971800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278,109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13632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429,132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55464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635,836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97296" y="5696712"/>
            <a:ext cx="9418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373,813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739128" y="5696712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549,694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680960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47.1%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94192" y="5696712"/>
            <a:ext cx="713232" cy="356616"/>
          </a:xfrm>
          <a:prstGeom prst="rect">
            <a:avLst/>
          </a:prstGeom>
          <a:solidFill>
            <a:srgbClr val="F8FAFC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97.7%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40080" y="6053327"/>
            <a:ext cx="1389888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l"/>
            <a:r>
              <a:rPr sz="760" b="1">
                <a:solidFill>
                  <a:srgbClr val="25354A"/>
                </a:solidFill>
                <a:latin typeface="Aptos"/>
              </a:rPr>
              <a:t>Tool Success Rate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029967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83.9%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971800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94.7%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913632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94.0%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855464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89.6%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97296" y="6053327"/>
            <a:ext cx="9418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0">
                <a:solidFill>
                  <a:srgbClr val="25354A"/>
                </a:solidFill>
                <a:latin typeface="Aptos"/>
              </a:rPr>
              <a:t>91.8%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739128" y="6053327"/>
            <a:ext cx="941832" cy="356616"/>
          </a:xfrm>
          <a:prstGeom prst="rect">
            <a:avLst/>
          </a:prstGeom>
          <a:solidFill>
            <a:srgbClr val="FCE4EC"/>
          </a:solidFill>
          <a:ln w="5715">
            <a:solidFill>
              <a:srgbClr val="C6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40" b="1">
                <a:solidFill>
                  <a:srgbClr val="25354A"/>
                </a:solidFill>
                <a:latin typeface="Aptos"/>
              </a:rPr>
              <a:t>92.2%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80960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087A55"/>
                </a:solidFill>
                <a:latin typeface="Aptos"/>
              </a:rPr>
              <a:t>▲ 0.4pp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394192" y="6053327"/>
            <a:ext cx="713232" cy="35661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9144" bIns="9144"/>
          <a:lstStyle/>
          <a:p>
            <a:pPr algn="ctr"/>
            <a:r>
              <a:rPr sz="720" b="1">
                <a:solidFill>
                  <a:srgbClr val="C43C3C"/>
                </a:solidFill>
                <a:latin typeface="Aptos"/>
              </a:rPr>
              <a:t>▼ 2.5pp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6464807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6B778A"/>
                </a:solidFill>
                <a:latin typeface="Aptos"/>
              </a:rPr>
              <a:t>Source: Jul 5–Aug 1 exact values from Ambal's detailed July table. Aug 2–15 Cowork values use the supplied six-week trailing scorecard (reporting date Aug 15). Aug 2–15 Copilot Studio uses the supplied platform-team canonical 17-region basis. MoM compares Aug 9–15 with Jul 12–18.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